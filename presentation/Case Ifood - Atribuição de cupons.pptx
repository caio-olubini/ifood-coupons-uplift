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embeddedFontLst>
    <p:embeddedFont>
      <p:font typeface="Century Schoolbook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CenturySchoolbook-bold.fntdata"/><Relationship Id="rId10" Type="http://schemas.openxmlformats.org/officeDocument/2006/relationships/font" Target="fonts/CenturySchoolbook-regular.fntdata"/><Relationship Id="rId13" Type="http://schemas.openxmlformats.org/officeDocument/2006/relationships/font" Target="fonts/CenturySchoolbook-boldItalic.fntdata"/><Relationship Id="rId12" Type="http://schemas.openxmlformats.org/officeDocument/2006/relationships/font" Target="fonts/CenturySchoolbook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caio-olubini.github.io/ifood-coupons-uplif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E3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48640" y="502920"/>
            <a:ext cx="4590288" cy="310896"/>
          </a:xfrm>
          <a:prstGeom prst="roundRect">
            <a:avLst>
              <a:gd fmla="val 50000" name="adj"/>
            </a:avLst>
          </a:prstGeom>
          <a:solidFill>
            <a:srgbClr val="EA1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48640" y="502920"/>
            <a:ext cx="45902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CASE DE DATA SCIENCE · O PROBLEMA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entury Schoolbook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 que estamos otimizando ao distribuir cupons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160020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Distribuir cupom não é só "dar desconto": é decidir quem recebe qual benefício, quando e por qual canal, para otimizar a utilizaç</a:t>
            </a:r>
            <a:r>
              <a:rPr lang="en-US" sz="1450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ão de orçamento na direção de interesse do negócio</a:t>
            </a:r>
            <a:r>
              <a:rPr b="0" i="0" lang="en-US" sz="145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2542005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A MESMA ALAVANCA PODE APONTAR PARA DIREÇÕES DIFERENTES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2907765"/>
            <a:ext cx="2697600" cy="1234500"/>
          </a:xfrm>
          <a:prstGeom prst="roundRect">
            <a:avLst>
              <a:gd fmla="val 6667" name="adj"/>
            </a:avLst>
          </a:prstGeom>
          <a:solidFill>
            <a:srgbClr val="363943"/>
          </a:solidFill>
          <a:ln cap="flat" cmpd="sng" w="12700">
            <a:solidFill>
              <a:srgbClr val="3F4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749808" y="3072357"/>
            <a:ext cx="2331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0EBE8"/>
                </a:solidFill>
                <a:latin typeface="Calibri"/>
                <a:ea typeface="Calibri"/>
                <a:cs typeface="Calibri"/>
                <a:sym typeface="Calibri"/>
              </a:rPr>
              <a:t>Relacionamento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749808" y="3364968"/>
            <a:ext cx="2295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engajar e fidelizar ao longo do tempo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374136" y="2907765"/>
            <a:ext cx="2697600" cy="1234500"/>
          </a:xfrm>
          <a:prstGeom prst="roundRect">
            <a:avLst>
              <a:gd fmla="val 6667" name="adj"/>
            </a:avLst>
          </a:prstGeom>
          <a:solidFill>
            <a:srgbClr val="363943"/>
          </a:solidFill>
          <a:ln cap="flat" cmpd="sng" w="12700">
            <a:solidFill>
              <a:srgbClr val="3F4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3575304" y="3072357"/>
            <a:ext cx="2331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0EBE8"/>
                </a:solidFill>
                <a:latin typeface="Calibri"/>
                <a:ea typeface="Calibri"/>
                <a:cs typeface="Calibri"/>
                <a:sym typeface="Calibri"/>
              </a:rPr>
              <a:t>LTV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575304" y="3364968"/>
            <a:ext cx="2295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aumentar o valor do cliente no longo prazo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160007" y="2907803"/>
            <a:ext cx="2697600" cy="1234500"/>
          </a:xfrm>
          <a:prstGeom prst="roundRect">
            <a:avLst>
              <a:gd fmla="val 6667" name="adj"/>
            </a:avLst>
          </a:prstGeom>
          <a:solidFill>
            <a:srgbClr val="363943"/>
          </a:solidFill>
          <a:ln cap="flat" cmpd="sng" w="12700">
            <a:solidFill>
              <a:srgbClr val="3F4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6361175" y="3072395"/>
            <a:ext cx="2331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0EBE8"/>
                </a:solidFill>
                <a:latin typeface="Calibri"/>
                <a:ea typeface="Calibri"/>
                <a:cs typeface="Calibri"/>
                <a:sym typeface="Calibri"/>
              </a:rPr>
              <a:t>Reativação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361175" y="3365006"/>
            <a:ext cx="2295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trazer de volta clientes inativos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8985503" y="2907803"/>
            <a:ext cx="2697600" cy="1234500"/>
          </a:xfrm>
          <a:prstGeom prst="roundRect">
            <a:avLst>
              <a:gd fmla="val 6667" name="adj"/>
            </a:avLst>
          </a:prstGeom>
          <a:solidFill>
            <a:srgbClr val="EA1D2C"/>
          </a:solidFill>
          <a:ln cap="flat" cmpd="sng" w="12700">
            <a:solidFill>
              <a:srgbClr val="EA1D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9186671" y="3072395"/>
            <a:ext cx="2331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Uplift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9150071" y="3365006"/>
            <a:ext cx="2295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FFE3E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E3E5"/>
                </a:solidFill>
                <a:latin typeface="Calibri"/>
                <a:ea typeface="Calibri"/>
                <a:cs typeface="Calibri"/>
                <a:sym typeface="Calibri"/>
              </a:rPr>
              <a:t>compras que só acontecem por causa do cupom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9186671" y="3840491"/>
            <a:ext cx="2331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← FOCO DESTE ESTUDO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548640" y="4391458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O CENÁRIO ANALISADO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548650" y="4670289"/>
            <a:ext cx="6035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E9E4E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9E4E1"/>
                </a:solidFill>
                <a:latin typeface="Calibri"/>
                <a:ea typeface="Calibri"/>
                <a:cs typeface="Calibri"/>
                <a:sym typeface="Calibri"/>
              </a:rPr>
              <a:t>Histórico do iFood: 16.994 clientes · 10 ofertas em 3 formatos (BOGO, desconto, informacional) · 4 canais · 6 ondas ao longo de ~30 dias.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623090" y="5310490"/>
            <a:ext cx="3840600" cy="255900"/>
          </a:xfrm>
          <a:prstGeom prst="roundRect">
            <a:avLst>
              <a:gd fmla="val 17857" name="adj"/>
            </a:avLst>
          </a:prstGeom>
          <a:solidFill>
            <a:srgbClr val="363943"/>
          </a:solidFill>
          <a:ln cap="flat" cmpd="sng" w="12700">
            <a:solidFill>
              <a:srgbClr val="3F4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732818" y="5310490"/>
            <a:ext cx="155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Recebidos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4498848" y="5314978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4E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E4E1"/>
                </a:solidFill>
                <a:latin typeface="Calibri"/>
                <a:ea typeface="Calibri"/>
                <a:cs typeface="Calibri"/>
                <a:sym typeface="Calibri"/>
              </a:rPr>
              <a:t>76.277  </a:t>
            </a:r>
            <a:r>
              <a:rPr b="0" i="0" lang="en-US" sz="90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623090" y="5639674"/>
            <a:ext cx="2753700" cy="255900"/>
          </a:xfrm>
          <a:prstGeom prst="roundRect">
            <a:avLst>
              <a:gd fmla="val 17857" name="adj"/>
            </a:avLst>
          </a:prstGeom>
          <a:solidFill>
            <a:srgbClr val="363943"/>
          </a:solidFill>
          <a:ln cap="flat" cmpd="sng" w="12700">
            <a:solidFill>
              <a:srgbClr val="3F4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732818" y="5639674"/>
            <a:ext cx="155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Vistos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3486442" y="5639674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4E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E4E1"/>
                </a:solidFill>
                <a:latin typeface="Calibri"/>
                <a:ea typeface="Calibri"/>
                <a:cs typeface="Calibri"/>
                <a:sym typeface="Calibri"/>
              </a:rPr>
              <a:t>54.654  </a:t>
            </a:r>
            <a:r>
              <a:rPr b="0" i="0" lang="en-US" sz="90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71.7%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23090" y="5968858"/>
            <a:ext cx="1713000" cy="255900"/>
          </a:xfrm>
          <a:prstGeom prst="roundRect">
            <a:avLst>
              <a:gd fmla="val 17857" name="adj"/>
            </a:avLst>
          </a:prstGeom>
          <a:solidFill>
            <a:srgbClr val="EA1D2C"/>
          </a:solidFill>
          <a:ln cap="flat" cmpd="sng" w="12700">
            <a:solidFill>
              <a:srgbClr val="3F4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732818" y="5968858"/>
            <a:ext cx="155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Convertidos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2445672" y="5968858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4E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E4E1"/>
                </a:solidFill>
                <a:latin typeface="Calibri"/>
                <a:ea typeface="Calibri"/>
                <a:cs typeface="Calibri"/>
                <a:sym typeface="Calibri"/>
              </a:rPr>
              <a:t>34.004  </a:t>
            </a:r>
            <a:r>
              <a:rPr b="0" i="0" lang="en-US" sz="90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44.6%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6903770" y="4416533"/>
            <a:ext cx="4709100" cy="1783200"/>
          </a:xfrm>
          <a:prstGeom prst="roundRect">
            <a:avLst>
              <a:gd fmla="val 5128" name="adj"/>
            </a:avLst>
          </a:prstGeom>
          <a:solidFill>
            <a:srgbClr val="363943"/>
          </a:solidFill>
          <a:ln cap="flat" cmpd="sng" w="12700">
            <a:solidFill>
              <a:srgbClr val="3F4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7132370" y="4590269"/>
            <a:ext cx="429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PARA ONDE ESTE ESTUDO CHEGA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7132370" y="4882877"/>
            <a:ext cx="42978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E9E4E1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E9E4E1"/>
                </a:solidFill>
                <a:latin typeface="Calibri"/>
                <a:ea typeface="Calibri"/>
                <a:cs typeface="Calibri"/>
                <a:sym typeface="Calibri"/>
              </a:rPr>
              <a:t>Testes em um budget de </a:t>
            </a:r>
            <a:r>
              <a:rPr b="0" i="0" lang="en-US" sz="1300" u="none" cap="none" strike="noStrike">
                <a:solidFill>
                  <a:srgbClr val="E9E4E1"/>
                </a:solidFill>
                <a:latin typeface="Calibri"/>
                <a:ea typeface="Calibri"/>
                <a:cs typeface="Calibri"/>
                <a:sym typeface="Calibri"/>
              </a:rPr>
              <a:t>15mil envios, </a:t>
            </a:r>
            <a:r>
              <a:rPr lang="en-US" sz="1300">
                <a:solidFill>
                  <a:srgbClr val="E9E4E1"/>
                </a:solidFill>
                <a:latin typeface="Calibri"/>
                <a:ea typeface="Calibri"/>
                <a:cs typeface="Calibri"/>
                <a:sym typeface="Calibri"/>
              </a:rPr>
              <a:t>apontaram que a solução gerou </a:t>
            </a:r>
            <a:r>
              <a:rPr b="1" i="0" lang="en-US" sz="1300" u="none" cap="none" strike="noStrike">
                <a:solidFill>
                  <a:srgbClr val="EA1D2C"/>
                </a:solidFill>
                <a:latin typeface="Calibri"/>
                <a:ea typeface="Calibri"/>
                <a:cs typeface="Calibri"/>
                <a:sym typeface="Calibri"/>
              </a:rPr>
              <a:t>R$ 32.079</a:t>
            </a:r>
            <a:r>
              <a:rPr b="0" i="0" lang="en-US" sz="1300" u="none" cap="none" strike="noStrike">
                <a:solidFill>
                  <a:srgbClr val="E9E4E1"/>
                </a:solidFill>
                <a:latin typeface="Calibri"/>
                <a:ea typeface="Calibri"/>
                <a:cs typeface="Calibri"/>
                <a:sym typeface="Calibri"/>
              </a:rPr>
              <a:t> de lucro incremental </a:t>
            </a:r>
            <a:endParaRPr sz="1300">
              <a:solidFill>
                <a:srgbClr val="E9E4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E9E4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9E4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300" u="none" cap="none" strike="noStrike">
                <a:solidFill>
                  <a:srgbClr val="EA1D2C"/>
                </a:solidFill>
                <a:latin typeface="Calibri"/>
                <a:ea typeface="Calibri"/>
                <a:cs typeface="Calibri"/>
                <a:sym typeface="Calibri"/>
              </a:rPr>
              <a:t>+24%</a:t>
            </a:r>
            <a:r>
              <a:rPr b="0" i="0" lang="en-US" sz="1300" u="none" cap="none" strike="noStrike">
                <a:solidFill>
                  <a:srgbClr val="E9E4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>
                <a:solidFill>
                  <a:srgbClr val="E9E4E1"/>
                </a:solidFill>
                <a:latin typeface="Calibri"/>
                <a:ea typeface="Calibri"/>
                <a:cs typeface="Calibri"/>
                <a:sym typeface="Calibri"/>
              </a:rPr>
              <a:t>vs seleção aleatória e </a:t>
            </a:r>
            <a:r>
              <a:rPr b="1" lang="en-US" sz="1300">
                <a:solidFill>
                  <a:srgbClr val="EA1D2C"/>
                </a:solidFill>
                <a:latin typeface="Calibri"/>
                <a:ea typeface="Calibri"/>
                <a:cs typeface="Calibri"/>
                <a:sym typeface="Calibri"/>
              </a:rPr>
              <a:t>+34%</a:t>
            </a:r>
            <a:r>
              <a:rPr lang="en-US" sz="1300">
                <a:solidFill>
                  <a:srgbClr val="E9E4E1"/>
                </a:solidFill>
                <a:latin typeface="Calibri"/>
                <a:ea typeface="Calibri"/>
                <a:cs typeface="Calibri"/>
                <a:sym typeface="Calibri"/>
              </a:rPr>
              <a:t> vs priorizar chance de conversão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452965" y="6528777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Estratégia de cupons · iFood — Case de Data Science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1 /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5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/>
          <p:nvPr/>
        </p:nvSpPr>
        <p:spPr>
          <a:xfrm>
            <a:off x="548640" y="502920"/>
            <a:ext cx="1517904" cy="310896"/>
          </a:xfrm>
          <a:prstGeom prst="roundRect">
            <a:avLst>
              <a:gd fmla="val 50000" name="adj"/>
            </a:avLst>
          </a:prstGeom>
          <a:solidFill>
            <a:srgbClr val="EA1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548640" y="502920"/>
            <a:ext cx="15179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INSIGHT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E36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2B2E3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Quem mais compra ≠ quem o cupom convence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48640" y="157276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807A7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07A77"/>
                </a:solidFill>
                <a:latin typeface="Calibri"/>
                <a:ea typeface="Calibri"/>
                <a:cs typeface="Calibri"/>
                <a:sym typeface="Calibri"/>
              </a:rPr>
              <a:t>Se ranqueamos os clientes só pela chance de compra, mandamos cupom para quem já ia comprar</a:t>
            </a:r>
            <a:r>
              <a:rPr lang="en-US">
                <a:solidFill>
                  <a:srgbClr val="807A7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400" u="none" cap="none" strike="noStrike">
                <a:solidFill>
                  <a:srgbClr val="807A77"/>
                </a:solidFill>
                <a:latin typeface="Calibri"/>
                <a:ea typeface="Calibri"/>
                <a:cs typeface="Calibri"/>
                <a:sym typeface="Calibri"/>
              </a:rPr>
              <a:t>e pagamos desconto sem gerar venda nova. Os dados mostram por quê.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4"/>
          <p:cNvPicPr preferRelativeResize="0"/>
          <p:nvPr/>
        </p:nvPicPr>
        <p:blipFill rotWithShape="1">
          <a:blip r:embed="rId3">
            <a:alphaModFix/>
          </a:blip>
          <a:srcRect b="8291" l="0" r="0" t="0"/>
          <a:stretch/>
        </p:blipFill>
        <p:spPr>
          <a:xfrm>
            <a:off x="548650" y="2331725"/>
            <a:ext cx="6126600" cy="34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/>
          <p:nvPr/>
        </p:nvSpPr>
        <p:spPr>
          <a:xfrm>
            <a:off x="548640" y="6080760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7A77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807A77"/>
                </a:solidFill>
                <a:latin typeface="Calibri"/>
                <a:ea typeface="Calibri"/>
                <a:cs typeface="Calibri"/>
                <a:sym typeface="Calibri"/>
              </a:rPr>
              <a:t>Taxa de conversão </a:t>
            </a:r>
            <a:r>
              <a:rPr b="0" i="0" lang="en-US" sz="1200" u="none" cap="none" strike="noStrike">
                <a:solidFill>
                  <a:srgbClr val="807A77"/>
                </a:solidFill>
                <a:latin typeface="Calibri"/>
                <a:ea typeface="Calibri"/>
                <a:cs typeface="Calibri"/>
                <a:sym typeface="Calibri"/>
              </a:rPr>
              <a:t>sobre recebidos, por braço e tipo de oferta.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7040880" y="2331720"/>
            <a:ext cx="4572000" cy="1170432"/>
          </a:xfrm>
          <a:prstGeom prst="roundRect">
            <a:avLst>
              <a:gd fmla="val 7813" name="adj"/>
            </a:avLst>
          </a:prstGeom>
          <a:solidFill>
            <a:srgbClr val="FFFFFF"/>
          </a:solidFill>
          <a:ln cap="flat" cmpd="sng" w="12700">
            <a:solidFill>
              <a:srgbClr val="E7E1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C949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7269480" y="2441448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1D2C"/>
              </a:buClr>
              <a:buSzPts val="3400"/>
              <a:buFont typeface="Century Schoolbook"/>
              <a:buNone/>
            </a:pPr>
            <a:r>
              <a:rPr b="1" i="0" lang="en-US" sz="3400" u="none" cap="none" strike="noStrike">
                <a:solidFill>
                  <a:srgbClr val="EA1D2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 em 3</a:t>
            </a:r>
            <a:r>
              <a:rPr b="0" i="0" lang="en-US" sz="1300" u="none" cap="none" strike="noStrike">
                <a:solidFill>
                  <a:srgbClr val="807A7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7269480" y="2898648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E3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B2E36"/>
                </a:solidFill>
                <a:latin typeface="Calibri"/>
                <a:ea typeface="Calibri"/>
                <a:cs typeface="Calibri"/>
                <a:sym typeface="Calibri"/>
              </a:rPr>
              <a:t>Compra sem ver o cupom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7269480" y="3154680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7A7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07A77"/>
                </a:solidFill>
                <a:latin typeface="Calibri"/>
                <a:ea typeface="Calibri"/>
                <a:cs typeface="Calibri"/>
                <a:sym typeface="Calibri"/>
              </a:rPr>
              <a:t>33% do controle converteu mesmo sem exposição à oferta.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7040880" y="3630168"/>
            <a:ext cx="4572000" cy="1170432"/>
          </a:xfrm>
          <a:prstGeom prst="roundRect">
            <a:avLst>
              <a:gd fmla="val 7813" name="adj"/>
            </a:avLst>
          </a:prstGeom>
          <a:solidFill>
            <a:srgbClr val="FFFFFF"/>
          </a:solidFill>
          <a:ln cap="flat" cmpd="sng" w="12700">
            <a:solidFill>
              <a:srgbClr val="E7E1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C949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7269480" y="3739896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1D2C"/>
              </a:buClr>
              <a:buSzPts val="3400"/>
              <a:buFont typeface="Century Schoolbook"/>
              <a:buNone/>
            </a:pPr>
            <a:r>
              <a:rPr b="1" i="0" lang="en-US" sz="3400" u="none" cap="none" strike="noStrike">
                <a:solidFill>
                  <a:srgbClr val="EA1D2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25,8</a:t>
            </a:r>
            <a:r>
              <a:rPr b="0" i="0" lang="en-US" sz="1300" u="none" cap="none" strike="noStrike">
                <a:solidFill>
                  <a:srgbClr val="807A77"/>
                </a:solidFill>
                <a:latin typeface="Calibri"/>
                <a:ea typeface="Calibri"/>
                <a:cs typeface="Calibri"/>
                <a:sym typeface="Calibri"/>
              </a:rPr>
              <a:t> 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269480" y="4197096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E3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B2E36"/>
                </a:solidFill>
                <a:latin typeface="Calibri"/>
                <a:ea typeface="Calibri"/>
                <a:cs typeface="Calibri"/>
                <a:sym typeface="Calibri"/>
              </a:rPr>
              <a:t>"Completou" sem abrir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7269480" y="4453128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7A7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07A77"/>
                </a:solidFill>
                <a:latin typeface="Calibri"/>
                <a:ea typeface="Calibri"/>
                <a:cs typeface="Calibri"/>
                <a:sym typeface="Calibri"/>
              </a:rPr>
              <a:t>8.568 de 33.182 eventos: compra espontânea, não persuasão.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7040880" y="4928616"/>
            <a:ext cx="4572000" cy="1170432"/>
          </a:xfrm>
          <a:prstGeom prst="roundRect">
            <a:avLst>
              <a:gd fmla="val 7813" name="adj"/>
            </a:avLst>
          </a:prstGeom>
          <a:solidFill>
            <a:srgbClr val="FFFFFF"/>
          </a:solidFill>
          <a:ln cap="flat" cmpd="sng" w="12700">
            <a:solidFill>
              <a:srgbClr val="E7E1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9C949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7269480" y="5038344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1D2C"/>
              </a:buClr>
              <a:buSzPts val="3400"/>
              <a:buFont typeface="Century Schoolbook"/>
              <a:buNone/>
            </a:pPr>
            <a:r>
              <a:rPr b="1" i="0" lang="en-US" sz="3400" u="none" cap="none" strike="noStrike">
                <a:solidFill>
                  <a:srgbClr val="EA1D2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16,2</a:t>
            </a:r>
            <a:r>
              <a:rPr b="0" i="0" lang="en-US" sz="1300" u="none" cap="none" strike="noStrike">
                <a:solidFill>
                  <a:srgbClr val="807A77"/>
                </a:solidFill>
                <a:latin typeface="Calibri"/>
                <a:ea typeface="Calibri"/>
                <a:cs typeface="Calibri"/>
                <a:sym typeface="Calibri"/>
              </a:rPr>
              <a:t> p.p.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7269480" y="5495544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E3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B2E36"/>
                </a:solidFill>
                <a:latin typeface="Calibri"/>
                <a:ea typeface="Calibri"/>
                <a:cs typeface="Calibri"/>
                <a:sym typeface="Calibri"/>
              </a:rPr>
              <a:t>Gap tratado </a:t>
            </a:r>
            <a:r>
              <a:rPr b="1" lang="en-US" sz="1250">
                <a:solidFill>
                  <a:srgbClr val="2B2E36"/>
                </a:solidFill>
                <a:latin typeface="Calibri"/>
                <a:ea typeface="Calibri"/>
                <a:cs typeface="Calibri"/>
                <a:sym typeface="Calibri"/>
              </a:rPr>
              <a:t>x </a:t>
            </a:r>
            <a:r>
              <a:rPr b="1" i="0" lang="en-US" sz="1250" u="none" cap="none" strike="noStrike">
                <a:solidFill>
                  <a:srgbClr val="2B2E36"/>
                </a:solidFill>
                <a:latin typeface="Calibri"/>
                <a:ea typeface="Calibri"/>
                <a:cs typeface="Calibri"/>
                <a:sym typeface="Calibri"/>
              </a:rPr>
              <a:t>controle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7269480" y="5751576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7A7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07A77"/>
                </a:solidFill>
                <a:latin typeface="Calibri"/>
                <a:ea typeface="Calibri"/>
                <a:cs typeface="Calibri"/>
                <a:sym typeface="Calibri"/>
              </a:rPr>
              <a:t>Espaço de efeito real</a:t>
            </a:r>
            <a:r>
              <a:rPr lang="en-US" sz="1050">
                <a:solidFill>
                  <a:srgbClr val="807A77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050" u="none" cap="none" strike="noStrike">
                <a:solidFill>
                  <a:srgbClr val="807A77"/>
                </a:solidFill>
                <a:latin typeface="Calibri"/>
                <a:ea typeface="Calibri"/>
                <a:cs typeface="Calibri"/>
                <a:sym typeface="Calibri"/>
              </a:rPr>
              <a:t> mas não tudo é causado pelo cupom.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7A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07A77"/>
                </a:solidFill>
                <a:latin typeface="Calibri"/>
                <a:ea typeface="Calibri"/>
                <a:cs typeface="Calibri"/>
                <a:sym typeface="Calibri"/>
              </a:rPr>
              <a:t>Estratégia de cupons · iFood — Case de Data Science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7A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07A77"/>
                </a:solidFill>
                <a:latin typeface="Calibri"/>
                <a:ea typeface="Calibri"/>
                <a:cs typeface="Calibri"/>
                <a:sym typeface="Calibri"/>
              </a:rPr>
              <a:t>2 /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799019" y="5586925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E36"/>
              </a:buClr>
              <a:buSzPts val="3000"/>
              <a:buFont typeface="Century Schoolbook"/>
              <a:buNone/>
            </a:pPr>
            <a:r>
              <a:rPr b="1" lang="en-US" sz="1200">
                <a:solidFill>
                  <a:srgbClr val="2B2E3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524530" y="5586925"/>
            <a:ext cx="1206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E36"/>
              </a:buClr>
              <a:buSzPts val="3000"/>
              <a:buFont typeface="Century Schoolbook"/>
              <a:buNone/>
            </a:pPr>
            <a:r>
              <a:rPr b="1" lang="en-US" sz="1200">
                <a:solidFill>
                  <a:srgbClr val="2B2E3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Desconto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E36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548640" y="502920"/>
            <a:ext cx="2286000" cy="310896"/>
          </a:xfrm>
          <a:prstGeom prst="roundRect">
            <a:avLst>
              <a:gd fmla="val 50000" name="adj"/>
            </a:avLst>
          </a:prstGeom>
          <a:solidFill>
            <a:srgbClr val="EA1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548640" y="502920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PÚBLICO CERTO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Century Schoolbook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Nem todo cliente responde ao cupom da mesma forma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48640" y="1536192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Para cada cliente estimamos duas coisas: a chance de ele comprar e quanto o cupom muda essa chance. Cruzando as duas, surgem quatro perfis — e só um deles justifica gastar desconto.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48640" y="2286000"/>
            <a:ext cx="5760600" cy="3931800"/>
          </a:xfrm>
          <a:prstGeom prst="rect">
            <a:avLst/>
          </a:prstGeom>
          <a:solidFill>
            <a:srgbClr val="363943"/>
          </a:solidFill>
          <a:ln cap="flat" cmpd="sng" w="12700">
            <a:solidFill>
              <a:srgbClr val="3F4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" name="Google Shape;87;p5"/>
          <p:cNvCxnSpPr/>
          <p:nvPr/>
        </p:nvCxnSpPr>
        <p:spPr>
          <a:xfrm>
            <a:off x="3429000" y="2286000"/>
            <a:ext cx="0" cy="3931800"/>
          </a:xfrm>
          <a:prstGeom prst="straightConnector1">
            <a:avLst/>
          </a:prstGeom>
          <a:noFill/>
          <a:ln cap="flat" cmpd="sng" w="12700">
            <a:solidFill>
              <a:srgbClr val="55585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8" name="Google Shape;88;p5"/>
          <p:cNvCxnSpPr/>
          <p:nvPr/>
        </p:nvCxnSpPr>
        <p:spPr>
          <a:xfrm>
            <a:off x="548640" y="4251960"/>
            <a:ext cx="5760600" cy="0"/>
          </a:xfrm>
          <a:prstGeom prst="straightConnector1">
            <a:avLst/>
          </a:prstGeom>
          <a:noFill/>
          <a:ln cap="flat" cmpd="sng" w="12700">
            <a:solidFill>
              <a:srgbClr val="55585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9" name="Google Shape;89;p5"/>
          <p:cNvSpPr/>
          <p:nvPr/>
        </p:nvSpPr>
        <p:spPr>
          <a:xfrm>
            <a:off x="621792" y="2359152"/>
            <a:ext cx="2734200" cy="1819800"/>
          </a:xfrm>
          <a:prstGeom prst="roundRect">
            <a:avLst>
              <a:gd fmla="val 4020" name="adj"/>
            </a:avLst>
          </a:prstGeom>
          <a:solidFill>
            <a:srgbClr val="EA1D2C"/>
          </a:solidFill>
          <a:ln cap="flat" cmpd="sng" w="12700">
            <a:solidFill>
              <a:srgbClr val="EA1D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786384" y="2487168"/>
            <a:ext cx="2459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63,8%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786384" y="3108960"/>
            <a:ext cx="2459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Persuadables: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cupom convence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786384" y="3721608"/>
            <a:ext cx="2459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3E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E3E5"/>
                </a:solidFill>
                <a:latin typeface="Calibri"/>
                <a:ea typeface="Calibri"/>
                <a:cs typeface="Calibri"/>
                <a:sym typeface="Calibri"/>
              </a:rPr>
              <a:t>ENVIAR — alvo principal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3502152" y="2359152"/>
            <a:ext cx="2734200" cy="1819800"/>
          </a:xfrm>
          <a:prstGeom prst="roundRect">
            <a:avLst>
              <a:gd fmla="val 4020" name="adj"/>
            </a:avLst>
          </a:prstGeom>
          <a:solidFill>
            <a:srgbClr val="363943"/>
          </a:solidFill>
          <a:ln cap="flat" cmpd="sng" w="12700">
            <a:solidFill>
              <a:srgbClr val="3F4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3666744" y="2487168"/>
            <a:ext cx="2459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8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0EBE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2,3%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666744" y="3108960"/>
            <a:ext cx="2459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DFD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E4DFDC"/>
                </a:solidFill>
                <a:latin typeface="Calibri"/>
                <a:ea typeface="Calibri"/>
                <a:cs typeface="Calibri"/>
                <a:sym typeface="Calibri"/>
              </a:rPr>
              <a:t>Sure things: </a:t>
            </a:r>
            <a:r>
              <a:rPr b="1" i="0" lang="en-US" sz="1300" u="none" cap="none" strike="noStrike">
                <a:solidFill>
                  <a:srgbClr val="E4DFDC"/>
                </a:solidFill>
                <a:latin typeface="Calibri"/>
                <a:ea typeface="Calibri"/>
                <a:cs typeface="Calibri"/>
                <a:sym typeface="Calibri"/>
              </a:rPr>
              <a:t>Já compraria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3666744" y="3721608"/>
            <a:ext cx="2459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Evitar — margem perdida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21792" y="4325112"/>
            <a:ext cx="2734200" cy="1819800"/>
          </a:xfrm>
          <a:prstGeom prst="roundRect">
            <a:avLst>
              <a:gd fmla="val 4020" name="adj"/>
            </a:avLst>
          </a:prstGeom>
          <a:solidFill>
            <a:srgbClr val="363943"/>
          </a:solidFill>
          <a:ln cap="flat" cmpd="sng" w="12700">
            <a:solidFill>
              <a:srgbClr val="3F4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786384" y="4453128"/>
            <a:ext cx="2459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8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0EBE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27,5%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786384" y="5074920"/>
            <a:ext cx="2459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DFD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E4DFDC"/>
                </a:solidFill>
                <a:latin typeface="Calibri"/>
                <a:ea typeface="Calibri"/>
                <a:cs typeface="Calibri"/>
                <a:sym typeface="Calibri"/>
              </a:rPr>
              <a:t>Sleeping dogs: </a:t>
            </a:r>
            <a:r>
              <a:rPr b="1" i="0" lang="en-US" sz="1300" u="none" cap="none" strike="noStrike">
                <a:solidFill>
                  <a:srgbClr val="E4DFDC"/>
                </a:solidFill>
                <a:latin typeface="Calibri"/>
                <a:ea typeface="Calibri"/>
                <a:cs typeface="Calibri"/>
                <a:sym typeface="Calibri"/>
              </a:rPr>
              <a:t>Efeito negativo estim.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786384" y="5687568"/>
            <a:ext cx="2459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Não priorizar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3502152" y="4325112"/>
            <a:ext cx="2734200" cy="1819800"/>
          </a:xfrm>
          <a:prstGeom prst="roundRect">
            <a:avLst>
              <a:gd fmla="val 4020" name="adj"/>
            </a:avLst>
          </a:prstGeom>
          <a:solidFill>
            <a:srgbClr val="363943"/>
          </a:solidFill>
          <a:ln cap="flat" cmpd="sng" w="12700">
            <a:solidFill>
              <a:srgbClr val="3F4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3666744" y="4453128"/>
            <a:ext cx="2459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BE8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0EBE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6,4%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3666744" y="5074920"/>
            <a:ext cx="2459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DFD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E4DFDC"/>
                </a:solidFill>
                <a:latin typeface="Calibri"/>
                <a:ea typeface="Calibri"/>
                <a:cs typeface="Calibri"/>
                <a:sym typeface="Calibri"/>
              </a:rPr>
              <a:t>Lost Causes: </a:t>
            </a:r>
            <a:r>
              <a:rPr b="1" i="0" lang="en-US" sz="1300" u="none" cap="none" strike="noStrike">
                <a:solidFill>
                  <a:srgbClr val="E4DFDC"/>
                </a:solidFill>
                <a:latin typeface="Calibri"/>
                <a:ea typeface="Calibri"/>
                <a:cs typeface="Calibri"/>
                <a:sym typeface="Calibri"/>
              </a:rPr>
              <a:t>Improvável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666744" y="5687568"/>
            <a:ext cx="2459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Não enviar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48640" y="6291072"/>
            <a:ext cx="576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→ Quanto essa pessoa já tende a comprar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02920" y="1956816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↑ Quanto o cupom muda essa chance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629400" y="2286000"/>
            <a:ext cx="4983480" cy="1737360"/>
          </a:xfrm>
          <a:prstGeom prst="roundRect">
            <a:avLst>
              <a:gd fmla="val 5263" name="adj"/>
            </a:avLst>
          </a:prstGeom>
          <a:solidFill>
            <a:srgbClr val="363943"/>
          </a:solidFill>
          <a:ln cap="flat" cmpd="sng" w="12700">
            <a:solidFill>
              <a:srgbClr val="3F4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6812280" y="2468880"/>
            <a:ext cx="2194560" cy="310896"/>
          </a:xfrm>
          <a:prstGeom prst="roundRect">
            <a:avLst>
              <a:gd fmla="val 50000" name="adj"/>
            </a:avLst>
          </a:prstGeom>
          <a:solidFill>
            <a:srgbClr val="EA1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6812280" y="2468880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CUPOM CONVENCE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9098280" y="2468880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Cliente #de26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812280" y="2834640"/>
            <a:ext cx="4617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DF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4DFDC"/>
                </a:solidFill>
                <a:latin typeface="Calibri"/>
                <a:ea typeface="Calibri"/>
                <a:cs typeface="Calibri"/>
                <a:sym typeface="Calibri"/>
              </a:rPr>
              <a:t>78 anos · 407 dias no app · R$ 174 em 7 pedidos · abre 75%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812280" y="3200400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Neste envio  </a:t>
            </a:r>
            <a:r>
              <a:rPr b="1" i="0" lang="en-US" sz="1100" u="none" cap="none" strike="noStrike">
                <a:solidFill>
                  <a:srgbClr val="F0EBE8"/>
                </a:solidFill>
                <a:latin typeface="Calibri"/>
                <a:ea typeface="Calibri"/>
                <a:cs typeface="Calibri"/>
                <a:sym typeface="Calibri"/>
              </a:rPr>
              <a:t>viu desconto → comprou R$ 25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812280" y="3547872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Modelo  </a:t>
            </a:r>
            <a:r>
              <a:rPr b="1" i="0" lang="en-US" sz="1100" u="none" cap="none" strike="noStrike">
                <a:solidFill>
                  <a:srgbClr val="FF8A93"/>
                </a:solidFill>
                <a:latin typeface="Calibri"/>
                <a:ea typeface="Calibri"/>
                <a:cs typeface="Calibri"/>
                <a:sym typeface="Calibri"/>
              </a:rPr>
              <a:t>efeito +72,9 p.p. · chance base 39%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6629400" y="4160520"/>
            <a:ext cx="4983480" cy="1737360"/>
          </a:xfrm>
          <a:prstGeom prst="roundRect">
            <a:avLst>
              <a:gd fmla="val 5263" name="adj"/>
            </a:avLst>
          </a:prstGeom>
          <a:solidFill>
            <a:srgbClr val="363943"/>
          </a:solidFill>
          <a:ln cap="flat" cmpd="sng" w="12700">
            <a:solidFill>
              <a:srgbClr val="3F4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6812280" y="4343400"/>
            <a:ext cx="2194560" cy="310896"/>
          </a:xfrm>
          <a:prstGeom prst="roundRect">
            <a:avLst>
              <a:gd fmla="val 50000" name="adj"/>
            </a:avLst>
          </a:prstGeom>
          <a:solidFill>
            <a:srgbClr val="6E6A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6812280" y="4343400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JÁ COMPRARIA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9098280" y="4343400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Cliente #7c48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6812280" y="4709160"/>
            <a:ext cx="4617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DF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4DFDC"/>
                </a:solidFill>
                <a:latin typeface="Calibri"/>
                <a:ea typeface="Calibri"/>
                <a:cs typeface="Calibri"/>
                <a:sym typeface="Calibri"/>
              </a:rPr>
              <a:t>50 anos · 744 dias no app · R$ 202 em 7 pedidos · abre 33%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812280" y="5074920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Neste envio  </a:t>
            </a:r>
            <a:r>
              <a:rPr b="1" i="0" lang="en-US" sz="1100" u="none" cap="none" strike="noStrike">
                <a:solidFill>
                  <a:srgbClr val="F0EBE8"/>
                </a:solidFill>
                <a:latin typeface="Calibri"/>
                <a:ea typeface="Calibri"/>
                <a:cs typeface="Calibri"/>
                <a:sym typeface="Calibri"/>
              </a:rPr>
              <a:t>comprou R$ 19 sem ver a oferta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12280" y="5422392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Modelo  </a:t>
            </a:r>
            <a:r>
              <a:rPr b="1" i="0" lang="en-US" sz="1100" u="none" cap="none" strike="noStrike">
                <a:solidFill>
                  <a:srgbClr val="F0EBE8"/>
                </a:solidFill>
                <a:latin typeface="Calibri"/>
                <a:ea typeface="Calibri"/>
                <a:cs typeface="Calibri"/>
                <a:sym typeface="Calibri"/>
              </a:rPr>
              <a:t>chance 95% · efeito ~0 p.p.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629400" y="5989320"/>
            <a:ext cx="4983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Premissa de negócio: assumimos que cupom não faz o cliente comprar menos. O quadrante de "efeito negativo" é uma ferramenta do modelo — na prática, lemos como baixo retorno marginal.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Estratégia de cupons · iFood — Case de Data Science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3 /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5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548640" y="502920"/>
            <a:ext cx="2029968" cy="310896"/>
          </a:xfrm>
          <a:prstGeom prst="roundRect">
            <a:avLst>
              <a:gd fmla="val 50000" name="adj"/>
            </a:avLst>
          </a:prstGeom>
          <a:solidFill>
            <a:srgbClr val="EA1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548640" y="502920"/>
            <a:ext cx="20299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IMPACTO EM R$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E36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2B2E3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Com o mesmo budget, mais lucro incremental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48640" y="157276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807A7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07A77"/>
                </a:solidFill>
                <a:latin typeface="Calibri"/>
                <a:ea typeface="Calibri"/>
                <a:cs typeface="Calibri"/>
                <a:sym typeface="Calibri"/>
              </a:rPr>
              <a:t>Comparamos três formas de escolher quem recebe cupom, na mesma base de validação (holdout</a:t>
            </a:r>
            <a:r>
              <a:rPr lang="en-US">
                <a:solidFill>
                  <a:srgbClr val="807A77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400" u="none" cap="none" strike="noStrike">
                <a:solidFill>
                  <a:srgbClr val="807A77"/>
                </a:solidFill>
                <a:latin typeface="Calibri"/>
                <a:ea typeface="Calibri"/>
                <a:cs typeface="Calibri"/>
                <a:sym typeface="Calibri"/>
              </a:rPr>
              <a:t>dados que o modelo não treinou). A métrica isola o lucro que o cupom de fato causou, não o que aconteceria de qualquer jeito.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2468880"/>
            <a:ext cx="694944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/>
          <p:nvPr/>
        </p:nvSpPr>
        <p:spPr>
          <a:xfrm>
            <a:off x="7772400" y="2468880"/>
            <a:ext cx="3840480" cy="1783080"/>
          </a:xfrm>
          <a:prstGeom prst="roundRect">
            <a:avLst>
              <a:gd fmla="val 5128" name="adj"/>
            </a:avLst>
          </a:prstGeom>
          <a:solidFill>
            <a:srgbClr val="FCF1F2"/>
          </a:solidFill>
          <a:ln cap="flat" cmpd="sng" w="12700">
            <a:solidFill>
              <a:srgbClr val="F1CB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7973568" y="2615184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303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4303C"/>
                </a:solidFill>
                <a:latin typeface="Calibri"/>
                <a:ea typeface="Calibri"/>
                <a:cs typeface="Calibri"/>
                <a:sym typeface="Calibri"/>
              </a:rPr>
              <a:t>COMO LER A CURVA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7973568" y="2889504"/>
            <a:ext cx="345643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2A2B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A2B30"/>
                </a:solidFill>
                <a:latin typeface="Calibri"/>
                <a:ea typeface="Calibri"/>
                <a:cs typeface="Calibri"/>
                <a:sym typeface="Calibri"/>
              </a:rPr>
              <a:t>Em budgets pequenos, priorizar conversão até lidera — o topo é dominado por super-usuários. Conforme o budget cresce, essa lista se dilui em quem "já compraria"; priorizar o efeito do cupom abre vantagem e chega a R$ 32.079 em 15 mil cupons.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7772400" y="44805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7A7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807A77"/>
                </a:solidFill>
                <a:latin typeface="Calibri"/>
                <a:ea typeface="Calibri"/>
                <a:cs typeface="Calibri"/>
                <a:sym typeface="Calibri"/>
              </a:rPr>
              <a:t>LUCRO INCREMENTAL · 15 MIL CUPONS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7772400" y="4846320"/>
            <a:ext cx="3840480" cy="438912"/>
          </a:xfrm>
          <a:prstGeom prst="roundRect">
            <a:avLst>
              <a:gd fmla="val 12500" name="adj"/>
            </a:avLst>
          </a:prstGeom>
          <a:solidFill>
            <a:srgbClr val="FCE9EB"/>
          </a:solidFill>
          <a:ln cap="flat" cmpd="sng" w="12700">
            <a:solidFill>
              <a:srgbClr val="E7E1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7918704" y="4974336"/>
            <a:ext cx="182880" cy="182880"/>
          </a:xfrm>
          <a:prstGeom prst="roundRect">
            <a:avLst>
              <a:gd fmla="val 15000" name="adj"/>
            </a:avLst>
          </a:prstGeom>
          <a:solidFill>
            <a:srgbClr val="EA1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8229600" y="4846320"/>
            <a:ext cx="2103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E3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E36"/>
                </a:solidFill>
                <a:latin typeface="Calibri"/>
                <a:ea typeface="Calibri"/>
                <a:cs typeface="Calibri"/>
                <a:sym typeface="Calibri"/>
              </a:rPr>
              <a:t>Efeito do cupom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0058400" y="4846320"/>
            <a:ext cx="1417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A1D2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A1D2C"/>
                </a:solidFill>
                <a:latin typeface="Calibri"/>
                <a:ea typeface="Calibri"/>
                <a:cs typeface="Calibri"/>
                <a:sym typeface="Calibri"/>
              </a:rPr>
              <a:t>R$ 32.079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7772400" y="5394960"/>
            <a:ext cx="3840480" cy="438912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7E1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7918704" y="5522976"/>
            <a:ext cx="182880" cy="182880"/>
          </a:xfrm>
          <a:prstGeom prst="roundRect">
            <a:avLst>
              <a:gd fmla="val 15000" name="adj"/>
            </a:avLst>
          </a:prstGeom>
          <a:solidFill>
            <a:srgbClr val="E8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8229600" y="5394960"/>
            <a:ext cx="2103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E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B2E36"/>
                </a:solidFill>
                <a:latin typeface="Calibri"/>
                <a:ea typeface="Calibri"/>
                <a:cs typeface="Calibri"/>
                <a:sym typeface="Calibri"/>
              </a:rPr>
              <a:t>Priorizar conversão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10058400" y="5394960"/>
            <a:ext cx="1417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2B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A2B30"/>
                </a:solidFill>
                <a:latin typeface="Calibri"/>
                <a:ea typeface="Calibri"/>
                <a:cs typeface="Calibri"/>
                <a:sym typeface="Calibri"/>
              </a:rPr>
              <a:t>R$ 23.929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7772400" y="5943600"/>
            <a:ext cx="3840480" cy="438912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7E1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7918704" y="6071616"/>
            <a:ext cx="182880" cy="182880"/>
          </a:xfrm>
          <a:prstGeom prst="roundRect">
            <a:avLst>
              <a:gd fmla="val 15000" name="adj"/>
            </a:avLst>
          </a:prstGeom>
          <a:solidFill>
            <a:srgbClr val="B9B3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8229600" y="5943600"/>
            <a:ext cx="2103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E3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B2E36"/>
                </a:solidFill>
                <a:latin typeface="Calibri"/>
                <a:ea typeface="Calibri"/>
                <a:cs typeface="Calibri"/>
                <a:sym typeface="Calibri"/>
              </a:rPr>
              <a:t>Aleatório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10058400" y="5943600"/>
            <a:ext cx="1417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2B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A2B30"/>
                </a:solidFill>
                <a:latin typeface="Calibri"/>
                <a:ea typeface="Calibri"/>
                <a:cs typeface="Calibri"/>
                <a:sym typeface="Calibri"/>
              </a:rPr>
              <a:t>R$ 25.934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7772400" y="654710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7A7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07A77"/>
                </a:solidFill>
                <a:latin typeface="Calibri"/>
                <a:ea typeface="Calibri"/>
                <a:cs typeface="Calibri"/>
                <a:sym typeface="Calibri"/>
              </a:rPr>
              <a:t>+24% vs sortear ao acaso · +34% vs priorizar conversão.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7A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07A77"/>
                </a:solidFill>
                <a:latin typeface="Calibri"/>
                <a:ea typeface="Calibri"/>
                <a:cs typeface="Calibri"/>
                <a:sym typeface="Calibri"/>
              </a:rPr>
              <a:t>Estratégia de cupons · iFood — Case de Data Science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7A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07A77"/>
                </a:solidFill>
                <a:latin typeface="Calibri"/>
                <a:ea typeface="Calibri"/>
                <a:cs typeface="Calibri"/>
                <a:sym typeface="Calibri"/>
              </a:rPr>
              <a:t>4 /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735225" y="5266925"/>
            <a:ext cx="640200" cy="183000"/>
          </a:xfrm>
          <a:prstGeom prst="rect">
            <a:avLst/>
          </a:prstGeom>
          <a:solidFill>
            <a:srgbClr val="FBF7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E36"/>
              </a:buClr>
              <a:buSzPts val="3000"/>
              <a:buFont typeface="Century Schoolbook"/>
              <a:buNone/>
            </a:pPr>
            <a:r>
              <a:rPr lang="en-US" sz="1200">
                <a:solidFill>
                  <a:srgbClr val="2B2E3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1,000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3224350" y="5285225"/>
            <a:ext cx="640200" cy="183000"/>
          </a:xfrm>
          <a:prstGeom prst="rect">
            <a:avLst/>
          </a:prstGeom>
          <a:solidFill>
            <a:srgbClr val="FBF7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E36"/>
              </a:buClr>
              <a:buSzPts val="3000"/>
              <a:buFont typeface="Century Schoolbook"/>
              <a:buNone/>
            </a:pPr>
            <a:r>
              <a:rPr lang="en-US" sz="1200">
                <a:solidFill>
                  <a:srgbClr val="2B2E3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5,000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6264700" y="5266925"/>
            <a:ext cx="720900" cy="183000"/>
          </a:xfrm>
          <a:prstGeom prst="rect">
            <a:avLst/>
          </a:prstGeom>
          <a:solidFill>
            <a:srgbClr val="FBF7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E36"/>
              </a:buClr>
              <a:buSzPts val="3000"/>
              <a:buFont typeface="Century Schoolbook"/>
              <a:buNone/>
            </a:pPr>
            <a:r>
              <a:rPr lang="en-US" sz="1200">
                <a:solidFill>
                  <a:srgbClr val="2B2E3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15,000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4713463" y="5266925"/>
            <a:ext cx="720900" cy="183000"/>
          </a:xfrm>
          <a:prstGeom prst="rect">
            <a:avLst/>
          </a:prstGeom>
          <a:solidFill>
            <a:srgbClr val="FBF7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E36"/>
              </a:buClr>
              <a:buSzPts val="3000"/>
              <a:buFont typeface="Century Schoolbook"/>
              <a:buNone/>
            </a:pPr>
            <a:r>
              <a:rPr lang="en-US" sz="1200">
                <a:solidFill>
                  <a:srgbClr val="2B2E3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10,000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E36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/>
          <p:nvPr/>
        </p:nvSpPr>
        <p:spPr>
          <a:xfrm>
            <a:off x="548640" y="548640"/>
            <a:ext cx="2286000" cy="310896"/>
          </a:xfrm>
          <a:prstGeom prst="roundRect">
            <a:avLst>
              <a:gd fmla="val 50000" name="adj"/>
            </a:avLst>
          </a:prstGeom>
          <a:solidFill>
            <a:srgbClr val="EA1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548640" y="548640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PRÓXIMOS PASSOS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Schoolboo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Prova offline entregue</a:t>
            </a:r>
            <a:r>
              <a:rPr b="1" lang="en-US" sz="28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</a:t>
            </a:r>
            <a:r>
              <a:rPr b="1" i="0" lang="en-US" sz="28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hora de validar </a:t>
            </a:r>
            <a:r>
              <a:rPr b="1" lang="en-US" sz="28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em produção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548640" y="157276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A avaliação offline está concluída e o produto analítico está pronto para uso. O passo seguinte é confirmar o ganho no mundo real, com um teste A/B desenhado em torno da métrica certa.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548640" y="2468880"/>
            <a:ext cx="3566160" cy="1874520"/>
          </a:xfrm>
          <a:prstGeom prst="roundRect">
            <a:avLst>
              <a:gd fmla="val 4878" name="adj"/>
            </a:avLst>
          </a:prstGeom>
          <a:solidFill>
            <a:srgbClr val="363943"/>
          </a:solidFill>
          <a:ln cap="flat" cmpd="sng" w="12700">
            <a:solidFill>
              <a:srgbClr val="3F4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777240" y="265176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93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8A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777240" y="324612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Avaliação offline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777240" y="3639312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Curva de ganho no holdout + teste de placebo (p=0/20): o sinal é real, não ruído.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343400" y="2468880"/>
            <a:ext cx="3566160" cy="1874520"/>
          </a:xfrm>
          <a:prstGeom prst="roundRect">
            <a:avLst>
              <a:gd fmla="val 4878" name="adj"/>
            </a:avLst>
          </a:prstGeom>
          <a:solidFill>
            <a:srgbClr val="363943"/>
          </a:solidFill>
          <a:ln cap="flat" cmpd="sng" w="12700">
            <a:solidFill>
              <a:srgbClr val="3F4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4572000" y="265176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93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8A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4572000" y="324612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Simulador web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572000" y="3639312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Interface para explorar budget, tipo de cupom e comparar as 3 estratégias sem código.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8138160" y="2468880"/>
            <a:ext cx="3566160" cy="1874520"/>
          </a:xfrm>
          <a:prstGeom prst="roundRect">
            <a:avLst>
              <a:gd fmla="val 4878" name="adj"/>
            </a:avLst>
          </a:prstGeom>
          <a:solidFill>
            <a:srgbClr val="363943"/>
          </a:solidFill>
          <a:ln cap="flat" cmpd="sng" w="12700">
            <a:solidFill>
              <a:srgbClr val="3F4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8366760" y="265176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93"/>
              </a:buClr>
              <a:buSzPts val="30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8A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8366760" y="324612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em produção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8366760" y="3639312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CLI train → predict: gera o ranking de quem recebe qual oferta (1 por cliente).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fmla="val 7742" name="adj"/>
            </a:avLst>
          </a:prstGeom>
          <a:solidFill>
            <a:srgbClr val="EA1D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822960" y="486460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entury Schoolboo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Piloto A/B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822960" y="5321808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E3E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E3E5"/>
                </a:solidFill>
                <a:latin typeface="Calibri"/>
                <a:ea typeface="Calibri"/>
                <a:cs typeface="Calibri"/>
                <a:sym typeface="Calibri"/>
              </a:rPr>
              <a:t>KPI primário: lucro líquido incremental na janela da campanha — não taxa de completion.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943600" y="48463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2D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D2D6"/>
                </a:solidFill>
                <a:latin typeface="Calibri"/>
                <a:ea typeface="Calibri"/>
                <a:cs typeface="Calibri"/>
                <a:sym typeface="Calibri"/>
              </a:rPr>
              <a:t>DESENHO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943600" y="512064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 mil + 15 mil cupons · randomização no envio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7818120" y="48463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2D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D2D6"/>
                </a:solidFill>
                <a:latin typeface="Calibri"/>
                <a:ea typeface="Calibri"/>
                <a:cs typeface="Calibri"/>
                <a:sym typeface="Calibri"/>
              </a:rPr>
              <a:t>JANELA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7818120" y="512064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1–2 ondas (~7–14 dias)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9692640" y="48463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2D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D2D6"/>
                </a:solidFill>
                <a:latin typeface="Calibri"/>
                <a:ea typeface="Calibri"/>
                <a:cs typeface="Calibri"/>
                <a:sym typeface="Calibri"/>
              </a:rPr>
              <a:t>META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9692640" y="512064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replicar a vantagem offline (+24–34%)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48640" y="62636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Simulador: </a:t>
            </a:r>
            <a:r>
              <a:rPr b="0" i="0" lang="en-US" sz="12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caio-olubini.github.io/ifood-coupons-uplift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Estratégia de cupons · iFood — Case de Data Science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2A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7B2AE"/>
                </a:solidFill>
                <a:latin typeface="Calibri"/>
                <a:ea typeface="Calibri"/>
                <a:cs typeface="Calibri"/>
                <a:sym typeface="Calibri"/>
              </a:rPr>
              <a:t>5 /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